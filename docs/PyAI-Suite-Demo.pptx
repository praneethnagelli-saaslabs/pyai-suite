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SAAS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E8ECF1"/>
                </a:solidFill>
                <a:latin typeface="Helvetica Neue"/>
              </a:defRPr>
            </a:pPr>
            <a:r>
              <a:t>PyAI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AA3B0"/>
                </a:solidFill>
                <a:latin typeface="Helvetica Neue"/>
              </a:defRPr>
            </a:pPr>
            <a:r>
              <a:t>Four AI products on one voice platform — PyAI first, with clear fallbacks.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FA38A"/>
                </a:solidFill>
                <a:latin typeface="Helvetica Neue"/>
              </a:defRPr>
            </a:pPr>
            <a:r>
              <a:t>CallIQ  ·  Scrib  ·  Brief  · 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Before demos — own this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1"/>
                </a:solidFill>
                <a:latin typeface="Helvetica Neue"/>
              </a:defRPr>
            </a:pPr>
            <a:r>
              <a:t>Built vs pulled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A38A"/>
                </a:solidFill>
                <a:latin typeface="Helvetica Neue"/>
              </a:defRPr>
            </a:pPr>
            <a:r>
              <a:t>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CallIQ · Scrib · Brief · Simulator</a:t>
            </a:r>
          </a:p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Provider registry &amp; visible fallbacks</a:t>
            </a:r>
          </a:p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API, web UI, extension, desktop tray</a:t>
            </a:r>
          </a:p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Recap, cleanup, meeting memory,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A38A"/>
                </a:solidFill>
                <a:latin typeface="Helvetica Neue"/>
              </a:defRPr>
            </a:pPr>
            <a:r>
              <a:t>WE PULLED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PyAI Hear / Speak</a:t>
            </a:r>
          </a:p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OpenAI / Gemini adapters</a:t>
            </a:r>
          </a:p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Attendee (open-source Meet bot)</a:t>
            </a:r>
          </a:p>
          <a:p>
            <a:pPr>
              <a:spcAft>
                <a:spcPts val="1000"/>
              </a:spcAft>
              <a:defRPr sz="1800">
                <a:solidFill>
                  <a:srgbClr val="E8ECF1"/>
                </a:solidFill>
                <a:latin typeface="Helvetica Neue"/>
              </a:defRPr>
            </a:pPr>
            <a:r>
              <a:t>Postgres · Redis · MinIO ·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1"/>
                </a:solidFill>
                <a:latin typeface="Helvetica Neue"/>
              </a:defRPr>
            </a:pPr>
            <a:r>
              <a:t>One line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A38A"/>
                </a:solidFill>
                <a:latin typeface="Helvetica Neue"/>
              </a:defRPr>
            </a:pPr>
            <a:r>
              <a:t>CallIQ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1"/>
                </a:solidFill>
                <a:latin typeface="Helvetica Neue"/>
              </a:defRPr>
            </a:pPr>
            <a:r>
              <a:t>Listens to a sales call → evidence-backed deal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A38A"/>
                </a:solidFill>
                <a:latin typeface="Helvetica Neue"/>
              </a:defRPr>
            </a:pPr>
            <a:r>
              <a:t>Scrib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1"/>
                </a:solidFill>
                <a:latin typeface="Helvetica Neue"/>
              </a:defRPr>
            </a:pPr>
            <a:r>
              <a:t>You speak → cleaned text ready to 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A38A"/>
                </a:solidFill>
                <a:latin typeface="Helvetica Neue"/>
              </a:defRPr>
            </a:pPr>
            <a:r>
              <a:t>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1"/>
                </a:solidFill>
                <a:latin typeface="Helvetica Neue"/>
              </a:defRPr>
            </a:pPr>
            <a:r>
              <a:t>Listens to a meeting → notes + searchable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A38A"/>
                </a:solidFill>
                <a:latin typeface="Helvetica Neue"/>
              </a:defRPr>
            </a:pPr>
            <a:r>
              <a:t>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43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1"/>
                </a:solidFill>
                <a:latin typeface="Helvetica Neue"/>
              </a:defRPr>
            </a:pPr>
            <a:r>
              <a:t>Practice / stress-test a live voice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1"/>
                </a:solidFill>
                <a:latin typeface="Helvetica Neue"/>
              </a:defRPr>
            </a:pPr>
            <a:r>
              <a:t>What powers the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PyAI — Hear (STT) · Speak (TTS) · primary path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Fallbacks — OpenAI · Gemini · Mock when no keys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Attendee — CallIQ Bot joins Google Meet / Zoom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Infra — Postgres · Redis · MinIO · Docker Compose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Apps — React web · Fastify API · Chrome extension · Tauri tray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1"/>
                </a:solidFill>
                <a:latin typeface="Helvetica Neue"/>
              </a:defRPr>
            </a:pPr>
            <a:r>
              <a:t>Click path (~12–15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0  Built vs pulled in (20 sec)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1  CallIQ → Run product demo (4–5 min)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2  Scrib → Try demo (2 min)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3  Brief → Try sample demo (2–3 min)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4  Simulator → Start call (2 min)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5  Providers → health + fallbacks (30 sec)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Open http://localhost:3000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FEATURED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ECF1"/>
                </a:solidFill>
                <a:latin typeface="Helvetica Neue"/>
              </a:defRPr>
            </a:pPr>
            <a:r>
              <a:t>CallIQ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AA3B0"/>
                </a:solidFill>
                <a:latin typeface="Helvetica Neue"/>
              </a:defRPr>
            </a:pPr>
            <a:r>
              <a:t>After a sales call, someone still rewrites the CRM by hand.</a:t>
            </a:r>
            <a:br/>
            <a:r>
              <a:t>CallIQ listens → Hear transcripts → Recap writes deal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CF1"/>
                </a:solidFill>
                <a:latin typeface="Helvetica Neue"/>
              </a:defRPr>
            </a:pPr>
            <a:r>
              <a:t>Click: Run product demo</a:t>
            </a:r>
          </a:p>
          <a:p>
            <a:pPr>
              <a:spcAft>
                <a:spcPts val="1000"/>
              </a:spcAft>
              <a:defRPr sz="2000">
                <a:solidFill>
                  <a:srgbClr val="E8ECF1"/>
                </a:solidFill>
                <a:latin typeface="Helvetica Neue"/>
              </a:defRPr>
            </a:pPr>
            <a:r>
              <a:t>Show: transcript · conversation shape · summary / risks / next steps</a:t>
            </a:r>
          </a:p>
          <a:p>
            <a:pPr>
              <a:spcAft>
                <a:spcPts val="1000"/>
              </a:spcAft>
              <a:defRPr sz="2000">
                <a:solidFill>
                  <a:srgbClr val="E8ECF1"/>
                </a:solidFill>
                <a:latin typeface="Helvetica Neue"/>
              </a:defRPr>
            </a:pPr>
            <a:r>
              <a:t>Optional: Join Meet as bot (Attendee) — admit CallIQ Bot once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Also on the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1"/>
                </a:solidFill>
                <a:latin typeface="Helvetica Neue"/>
              </a:defRPr>
            </a:pPr>
            <a:r>
              <a:t>Scrib · Brief ·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Scrib — Try demo · Speak → Hear → cleanup → paste-ready text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Brief — Sample demo · or tab + mic capture → End meeting → notes + memory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Simulator — Start a call · score the agent before customers hear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A38A"/>
                </a:solidFill>
                <a:latin typeface="Helvetica Neue"/>
              </a:defRPr>
            </a:pPr>
            <a:r>
              <a:t>Stagecraft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1"/>
                </a:solidFill>
                <a:latin typeface="Helvetica Neue"/>
              </a:defRPr>
            </a:pPr>
            <a:r>
              <a:t>If something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Stay on Mock / sample demo paths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Providers → healthy key ≠ Hear always wins (cooldown / fallback banners)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Fallback banner = expected, not broken</a:t>
            </a:r>
          </a:p>
          <a:p>
            <a:pPr>
              <a:spcAft>
                <a:spcPts val="1000"/>
              </a:spcAft>
              <a:defRPr sz="2200">
                <a:solidFill>
                  <a:srgbClr val="E8ECF1"/>
                </a:solidFill>
                <a:latin typeface="Helvetica Neue"/>
              </a:defRPr>
            </a:pPr>
            <a:r>
              <a:t>Skip live Meet — finish on CallIQ product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CF1"/>
                </a:solidFill>
                <a:latin typeface="Helvetica Neue"/>
              </a:defRPr>
            </a:pPr>
            <a:r>
              <a:t>One voice platform. PyAI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FA38A"/>
                </a:solidFill>
                <a:latin typeface="Helvetica Neue"/>
              </a:defRPr>
            </a:pPr>
            <a:r>
              <a:t>CallIQ · Scrib · Brief ·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AA3B0"/>
                </a:solidFill>
                <a:latin typeface="Helvetica Neue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